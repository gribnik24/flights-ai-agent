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 пожаловать. Сегодня мы рассмотрим логику работы ИИ-агента. Мы разберем, как обрабатываются запросы на примере поиска перелетов, чтобы понять внутренние механизмы и этапы обработки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рассматриваем сценарий, когда пользователь запрашивает список аэропортов Москвы. Система интерпретирует запрос, понимая необходимость поиска по конкретному городу, и вызывает функцию get_airport_data с параметром Москва. В ответ система возвращает список из пяти аэропортов, что включает крупнейшие хабы вроде Шереметьево и Домодедово.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данном примере рассматривается поиск вылетов из Москвы в Новосибирск. Процесс включает получение текущей даты и проверку расписания по каждому коду аэропорта. Система выполняет последовательные вызовы функции get_station_timetable для Шереметьево, Внуково, Домодедово, Быково и Остафьева. В результате найдены рейсы только из Шереметьево и Домодедово, в остальных узлах вылеты отсутствуют.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мы рассмотрим нашу систему фильтрации вылетов по времени. Мы разработали алгоритм, который автоматически отсеивает уже состоявшиеся рейсы, оставляя в списке только будущие вылеты. Все данные привязаны к московскому времени, что обеспечивает точность сравнения. В результате применения этого фильтра мы смогли сократить список до четырех будущих рейсов, все из которых выполняются через аэропорт Домодедово.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мы видим, как агент обрабатывает вопрос пользователя о количестве аэропортов в Новосибирске. Система проводит верификацию данных для города назначения. В результате поиска подтверждается, что в городе обслуживается только один международный аэропорт — Толмачёво.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показан процесс обработки запроса на поиск рейсов. Система сначала синхронизирует время с часовым поясом Азии/Новосибирска, чтобы исключить уже вылетевшие самолеты, такие как рейс в 13:35. После фильтрации остаются только актуальные варианты S7 5307 и S7 5319, которые предлагаются пользователю для дальнейшего бронирования.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316956"/>
            <a:ext cx="2688282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E4CD9"/>
                </a:solidFill>
                <a:latin typeface="Montserrat"/>
              </a:defRPr>
            </a:pPr>
            <a:r>
              <a:rPr i="0" sz="3600" b="1">
                <a:solidFill>
                  <a:srgbClr val="1E4CD9"/>
                </a:solidFill>
                <a:latin typeface="Montserrat"/>
              </a:rPr>
              <a:t>Логика 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1000" y="2812256"/>
            <a:ext cx="1334541" cy="38100"/>
          </a:xfrm>
          <a:prstGeom prst="roundRect">
            <a:avLst>
              <a:gd name="adj" fmla="val 15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3002756"/>
            <a:ext cx="5505450" cy="55721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234CD9"/>
                </a:solidFill>
                <a:latin typeface="Montserrat"/>
              </a:defRPr>
            </a:pPr>
            <a:r>
              <a:rPr i="0" sz="1350" b="0">
                <a:solidFill>
                  <a:srgbClr val="234CD9"/>
                </a:solidFill>
                <a:latin typeface="Montserrat"/>
              </a:rPr>
              <a:t>Анализ работы ИИ-агента на примере обработки запросов о перелетах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3788568"/>
            <a:ext cx="3810000" cy="752475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52400" bIns="1524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1025" y="397430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5F8FE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025" y="3974306"/>
            <a:ext cx="400050" cy="381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1">
                <a:solidFill>
                  <a:srgbClr val="234CD9"/>
                </a:solidFill>
                <a:latin typeface="Montserrat"/>
              </a:defRPr>
            </a:pPr>
            <a:r>
              <a:rPr i="0" sz="1050" b="1">
                <a:solidFill>
                  <a:srgbClr val="234CD9"/>
                </a:solidFill>
                <a:latin typeface="Montserrat"/>
              </a:rPr>
              <a:t>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950493"/>
            <a:ext cx="1688901" cy="2286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234CD9"/>
                </a:solidFill>
                <a:latin typeface="Montserrat"/>
              </a:defRPr>
            </a:pPr>
            <a:r>
              <a:rPr i="0" sz="1200" b="0">
                <a:solidFill>
                  <a:srgbClr val="234CD9"/>
                </a:solidFill>
                <a:latin typeface="Montserrat"/>
              </a:rPr>
              <a:t>Никита Армбристер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179093"/>
            <a:ext cx="1688901" cy="2000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2026-06-21</a:t>
            </a:r>
          </a:p>
        </p:txBody>
      </p:sp>
      <p:pic>
        <p:nvPicPr>
          <p:cNvPr id="10" name="Picture 9" descr="d7803ab0-1ab1-4c96-860a-5580f1255e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419" y="609600"/>
            <a:ext cx="512058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8650" y="1824037"/>
            <a:ext cx="4938117" cy="571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i="0" sz="3600" b="1">
                <a:solidFill>
                  <a:srgbClr val="1E4CD9"/>
                </a:solidFill>
                <a:latin typeface="Montserrat"/>
              </a:defRPr>
            </a:pPr>
            <a:r>
              <a:rPr i="0" sz="3600" b="1">
                <a:solidFill>
                  <a:srgbClr val="1E4CD9"/>
                </a:solidFill>
                <a:latin typeface="Montserrat"/>
              </a:rPr>
              <a:t>Аэропорты Москвы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700337"/>
            <a:ext cx="4895850" cy="11144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334155"/>
                </a:solidFill>
                <a:latin typeface="Montserrat"/>
              </a:defRPr>
            </a:pPr>
            <a:r>
              <a:rPr i="0" sz="1350" b="0">
                <a:solidFill>
                  <a:srgbClr val="334155"/>
                </a:solidFill>
                <a:latin typeface="Montserrat"/>
              </a:rPr>
              <a:t>Рассматриваем процесс обработки запроса пользователя о наличии аэропортов в Москве, включая логику интерпретации, вызов функции и полученный результат.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500187"/>
            <a:ext cx="2619375" cy="1681162"/>
          </a:xfrm>
          <a:prstGeom prst="roundRect">
            <a:avLst>
              <a:gd name="adj" fmla="val 4532"/>
            </a:avLst>
          </a:prstGeom>
          <a:solidFill>
            <a:srgbClr val="F5F8FE"/>
          </a:solidFill>
          <a:ln>
            <a:noFill/>
          </a:ln>
          <a:effectLst>
            <a:outerShdw blurRad="19050" dir="5400000" dist="9525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52400" bIns="152400"/>
          <a:lstStyle/>
          <a:p>
            <a:pPr algn="ctr"/>
          </a:p>
        </p:txBody>
      </p:sp>
      <p:pic>
        <p:nvPicPr>
          <p:cNvPr id="5" name="Picture 4" descr="90aac200-4e87-4a8b-b79c-8263f87c2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87" y="1652587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0" y="2185987"/>
            <a:ext cx="2409825" cy="5334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444"/>
              </a:lnSpc>
              <a:defRPr i="0" sz="1350" b="0">
                <a:solidFill>
                  <a:srgbClr val="234CD9"/>
                </a:solidFill>
                <a:latin typeface="Montserrat"/>
              </a:defRPr>
            </a:pPr>
            <a:r>
              <a:rPr i="0" sz="1350" b="0">
                <a:solidFill>
                  <a:srgbClr val="234CD9"/>
                </a:solidFill>
                <a:latin typeface="Montserrat"/>
              </a:rPr>
              <a:t>Пользовательский запрос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29487" y="2757487"/>
            <a:ext cx="304800" cy="38100"/>
          </a:xfrm>
          <a:prstGeom prst="rect">
            <a:avLst/>
          </a:prstGeom>
          <a:solidFill>
            <a:srgbClr val="23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5157" y="2871787"/>
            <a:ext cx="1992510" cy="15716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i="0" sz="900" b="0">
                <a:solidFill>
                  <a:srgbClr val="234CD9"/>
                </a:solidFill>
                <a:latin typeface="Montserrat"/>
              </a:defRPr>
            </a:pPr>
            <a:r>
              <a:rPr i="0" sz="900" b="0">
                <a:solidFill>
                  <a:srgbClr val="234CD9"/>
                </a:solidFill>
                <a:latin typeface="Montserrat"/>
              </a:rPr>
              <a:t>Какие аэропорты есть в Москве?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3975" y="1500187"/>
            <a:ext cx="2619375" cy="1681162"/>
          </a:xfrm>
          <a:prstGeom prst="roundRect">
            <a:avLst>
              <a:gd name="adj" fmla="val 4532"/>
            </a:avLst>
          </a:prstGeom>
          <a:solidFill>
            <a:srgbClr val="F5F8FE"/>
          </a:solidFill>
          <a:ln>
            <a:noFill/>
          </a:ln>
          <a:effectLst>
            <a:outerShdw blurRad="19050" dir="5400000" dist="9525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52400" bIns="152400"/>
          <a:lstStyle/>
          <a:p>
            <a:pPr algn="ctr"/>
          </a:p>
        </p:txBody>
      </p:sp>
      <p:pic>
        <p:nvPicPr>
          <p:cNvPr id="10" name="Picture 9" descr="ef88837b-1572-4f56-9c26-c51d375fee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062" y="165258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79123" y="2185987"/>
            <a:ext cx="2168128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444"/>
              </a:lnSpc>
              <a:defRPr i="0" sz="1350" b="0">
                <a:solidFill>
                  <a:srgbClr val="234CD9"/>
                </a:solidFill>
                <a:latin typeface="Montserrat"/>
              </a:defRPr>
            </a:pPr>
            <a:r>
              <a:rPr i="0" sz="1350" b="0">
                <a:solidFill>
                  <a:srgbClr val="234CD9"/>
                </a:solidFill>
                <a:latin typeface="Montserrat"/>
              </a:rPr>
              <a:t>Логика интерпретации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1262" y="2490787"/>
            <a:ext cx="304800" cy="38100"/>
          </a:xfrm>
          <a:prstGeom prst="rect">
            <a:avLst/>
          </a:prstGeom>
          <a:solidFill>
            <a:srgbClr val="23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6428" y="2605087"/>
            <a:ext cx="1953369" cy="15716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i="0" sz="900" b="0">
                <a:solidFill>
                  <a:srgbClr val="234CD9"/>
                </a:solidFill>
                <a:latin typeface="Montserrat"/>
              </a:defRPr>
            </a:pPr>
            <a:r>
              <a:rPr i="0" sz="900" b="0">
                <a:solidFill>
                  <a:srgbClr val="234CD9"/>
                </a:solidFill>
                <a:latin typeface="Montserrat"/>
              </a:rPr>
              <a:t>Данные по конкретному городу.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3750"/>
            <a:ext cx="2619375" cy="1414462"/>
          </a:xfrm>
          <a:prstGeom prst="roundRect">
            <a:avLst>
              <a:gd name="adj" fmla="val 5387"/>
            </a:avLst>
          </a:prstGeom>
          <a:solidFill>
            <a:srgbClr val="F5F8FE"/>
          </a:solidFill>
          <a:ln>
            <a:noFill/>
          </a:ln>
          <a:effectLst>
            <a:outerShdw blurRad="19050" dir="5400000" dist="9525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52400" bIns="152400"/>
          <a:lstStyle/>
          <a:p>
            <a:pPr algn="ctr"/>
          </a:p>
        </p:txBody>
      </p:sp>
      <p:pic>
        <p:nvPicPr>
          <p:cNvPr id="15" name="Picture 14" descr="0b65b69a-da5d-4439-8736-02251929dd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287" y="348615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4067" y="4019550"/>
            <a:ext cx="227468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444"/>
              </a:lnSpc>
              <a:defRPr i="0" sz="1350" b="0">
                <a:solidFill>
                  <a:srgbClr val="234CD9"/>
                </a:solidFill>
                <a:latin typeface="Montserrat"/>
              </a:defRPr>
            </a:pPr>
            <a:r>
              <a:rPr i="0" sz="1350" b="0">
                <a:solidFill>
                  <a:srgbClr val="234CD9"/>
                </a:solidFill>
                <a:latin typeface="Montserrat"/>
              </a:rPr>
              <a:t>Используемое действие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9487" y="4324350"/>
            <a:ext cx="304800" cy="38100"/>
          </a:xfrm>
          <a:prstGeom prst="rect">
            <a:avLst/>
          </a:prstGeom>
          <a:solidFill>
            <a:srgbClr val="23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807" y="4438650"/>
            <a:ext cx="1967061" cy="15716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i="0" sz="900" b="0">
                <a:solidFill>
                  <a:srgbClr val="234CD9"/>
                </a:solidFill>
                <a:latin typeface="Montserrat"/>
              </a:defRPr>
            </a:pPr>
            <a:r>
              <a:rPr i="0" sz="900" b="0">
                <a:solidFill>
                  <a:srgbClr val="234CD9"/>
                </a:solidFill>
                <a:latin typeface="Montserrat"/>
              </a:rPr>
              <a:t>Вызов функции get_airport_data.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3975" y="3333750"/>
            <a:ext cx="2619375" cy="1414462"/>
          </a:xfrm>
          <a:prstGeom prst="roundRect">
            <a:avLst>
              <a:gd name="adj" fmla="val 5387"/>
            </a:avLst>
          </a:prstGeom>
          <a:solidFill>
            <a:srgbClr val="F5F8FE"/>
          </a:solidFill>
          <a:ln>
            <a:noFill/>
          </a:ln>
          <a:effectLst>
            <a:outerShdw blurRad="19050" dir="5400000" dist="9525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152400" bIns="152400"/>
          <a:lstStyle/>
          <a:p>
            <a:pPr algn="ctr"/>
          </a:p>
        </p:txBody>
      </p:sp>
      <p:pic>
        <p:nvPicPr>
          <p:cNvPr id="20" name="Picture 19" descr="3eca02ad-d2fe-43e9-9491-3ceb7ed0dc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062" y="348615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90880" y="4019550"/>
            <a:ext cx="2144613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444"/>
              </a:lnSpc>
              <a:defRPr i="0" sz="1350" b="0">
                <a:solidFill>
                  <a:srgbClr val="234CD9"/>
                </a:solidFill>
                <a:latin typeface="Montserrat"/>
              </a:defRPr>
            </a:pPr>
            <a:r>
              <a:rPr i="0" sz="1350" b="0">
                <a:solidFill>
                  <a:srgbClr val="234CD9"/>
                </a:solidFill>
                <a:latin typeface="Montserrat"/>
              </a:rPr>
              <a:t>Полученный результат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1262" y="4324350"/>
            <a:ext cx="304800" cy="38100"/>
          </a:xfrm>
          <a:prstGeom prst="rect">
            <a:avLst/>
          </a:prstGeom>
          <a:solidFill>
            <a:srgbClr val="23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6057" y="4438650"/>
            <a:ext cx="1694259" cy="15716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defRPr i="0" sz="900" b="0">
                <a:solidFill>
                  <a:srgbClr val="234CD9"/>
                </a:solidFill>
                <a:latin typeface="Montserrat"/>
              </a:defRPr>
            </a:pPr>
            <a:r>
              <a:rPr i="0" sz="900" b="0">
                <a:solidFill>
                  <a:srgbClr val="234CD9"/>
                </a:solidFill>
                <a:latin typeface="Montserrat"/>
              </a:rPr>
              <a:t>Список из пяти аэропортов.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050" y="6800850"/>
            <a:ext cx="12153900" cy="38100"/>
          </a:xfrm>
          <a:prstGeom prst="rect">
            <a:avLst/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753790"/>
            <a:ext cx="4895850" cy="1143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i="0" sz="3600" b="1">
                <a:solidFill>
                  <a:srgbClr val="234CD9"/>
                </a:solidFill>
                <a:latin typeface="Montserrat"/>
              </a:defRPr>
            </a:pPr>
            <a:r>
              <a:rPr i="0" sz="3600" b="1">
                <a:solidFill>
                  <a:srgbClr val="234CD9"/>
                </a:solidFill>
                <a:latin typeface="Montserrat"/>
              </a:rPr>
              <a:t>Вылеты в Новосибирск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201590"/>
            <a:ext cx="4895850" cy="83581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234CD9"/>
                </a:solidFill>
                <a:latin typeface="Montserrat"/>
              </a:defRPr>
            </a:pPr>
            <a:r>
              <a:rPr i="0" sz="1350" b="0">
                <a:solidFill>
                  <a:srgbClr val="234CD9"/>
                </a:solidFill>
                <a:latin typeface="Montserrat"/>
              </a:rPr>
              <a:t>Поиск авиарейсов требует </a:t>
            </a:r>
            <a:r>
              <a:rPr i="0" sz="1350" b="1">
                <a:solidFill>
                  <a:srgbClr val="234CD9"/>
                </a:solidFill>
                <a:latin typeface="Montserrat"/>
              </a:rPr>
              <a:t>последовательной проверки</a:t>
            </a:r>
            <a:r>
              <a:rPr i="0" sz="1350" b="0">
                <a:solidFill>
                  <a:srgbClr val="234CD9"/>
                </a:solidFill>
                <a:latin typeface="Montserrat"/>
              </a:rPr>
              <a:t> расписания аэропортов (SVO, VKO, DME) с использованием текущей даты.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0" y="1852612"/>
            <a:ext cx="4876800" cy="1119187"/>
          </a:xfrm>
          <a:prstGeom prst="roundRect">
            <a:avLst>
              <a:gd name="adj" fmla="val 6808"/>
            </a:avLst>
          </a:prstGeom>
          <a:solidFill>
            <a:srgbClr val="F5F8FE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pic>
        <p:nvPicPr>
          <p:cNvPr id="5" name="Picture 4" descr="234dee5d-2987-490c-b0d6-db14cbd56e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0" y="204311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2043112"/>
            <a:ext cx="3867150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234CD9"/>
                </a:solidFill>
                <a:latin typeface="Montserrat"/>
              </a:defRPr>
            </a:pPr>
            <a:r>
              <a:rPr i="0" sz="1500" b="0">
                <a:solidFill>
                  <a:srgbClr val="234CD9"/>
                </a:solidFill>
                <a:latin typeface="Montserrat"/>
              </a:rPr>
              <a:t>Логика поиска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347912"/>
            <a:ext cx="3867150" cy="43338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Определение даты и проверка расписания по </a:t>
            </a:r>
            <a:r>
              <a:rPr i="0" sz="1050" b="1">
                <a:solidFill>
                  <a:srgbClr val="234CD9"/>
                </a:solidFill>
                <a:latin typeface="Montserrat"/>
              </a:rPr>
              <a:t>кодам аэропортов</a:t>
            </a:r>
            <a:r>
              <a:rPr i="0" sz="1050" b="0">
                <a:solidFill>
                  <a:srgbClr val="234CD9"/>
                </a:solidFill>
                <a:latin typeface="Montserrat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600" y="3276600"/>
            <a:ext cx="4876800" cy="1119187"/>
          </a:xfrm>
          <a:prstGeom prst="roundRect">
            <a:avLst>
              <a:gd name="adj" fmla="val 6808"/>
            </a:avLst>
          </a:prstGeom>
          <a:solidFill>
            <a:srgbClr val="F5F8FE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pic>
        <p:nvPicPr>
          <p:cNvPr id="9" name="Picture 8" descr="165666f3-9ac8-42e9-a936-4fb6bae0de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100" y="34671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3467100"/>
            <a:ext cx="3867150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234CD9"/>
                </a:solidFill>
                <a:latin typeface="Montserrat"/>
              </a:defRPr>
            </a:pPr>
            <a:r>
              <a:rPr i="0" sz="1500" b="0">
                <a:solidFill>
                  <a:srgbClr val="234CD9"/>
                </a:solidFill>
                <a:latin typeface="Montserrat"/>
              </a:rPr>
              <a:t>Множественные действия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771900"/>
            <a:ext cx="3867150" cy="43338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Последовательные вызовы API для </a:t>
            </a:r>
            <a:r>
              <a:rPr i="0" sz="1050" b="1">
                <a:solidFill>
                  <a:srgbClr val="234CD9"/>
                </a:solidFill>
                <a:latin typeface="Montserrat"/>
              </a:rPr>
              <a:t>SVO, VKO, DME, BKA и OSF</a:t>
            </a:r>
            <a:r>
              <a:rPr i="0" sz="1050" b="0">
                <a:solidFill>
                  <a:srgbClr val="234CD9"/>
                </a:solidFill>
                <a:latin typeface="Montserrat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6819900"/>
            <a:ext cx="12192000" cy="38100"/>
          </a:xfrm>
          <a:prstGeom prst="roundRect">
            <a:avLst>
              <a:gd name="adj" fmla="val 5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819900"/>
            <a:ext cx="12192000" cy="38100"/>
          </a:xfrm>
          <a:prstGeom prst="roundRect">
            <a:avLst>
              <a:gd name="adj" fmla="val 10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883443"/>
            <a:ext cx="7996237" cy="571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pc="-108" i="0" sz="3600" b="1">
                <a:solidFill>
                  <a:srgbClr val="234CD9"/>
                </a:solidFill>
                <a:latin typeface="Montserrat"/>
              </a:defRPr>
            </a:pPr>
            <a:r>
              <a:rPr i="0" sz="3600" b="1">
                <a:solidFill>
                  <a:srgbClr val="234CD9"/>
                </a:solidFill>
                <a:latin typeface="Montserrat"/>
              </a:rPr>
              <a:t>Фильтрация вылетов по времени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07343"/>
            <a:ext cx="4895850" cy="55721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234CD9"/>
                </a:solidFill>
                <a:latin typeface="Montserrat"/>
              </a:defRPr>
            </a:pPr>
            <a:r>
              <a:rPr i="0" sz="1350" b="0">
                <a:solidFill>
                  <a:srgbClr val="234CD9"/>
                </a:solidFill>
                <a:latin typeface="Montserrat"/>
              </a:rPr>
              <a:t>Система отсеивания прошлых рейсов по московскому времени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" y="2659856"/>
            <a:ext cx="2667000" cy="3619500"/>
          </a:xfrm>
          <a:prstGeom prst="roundRect">
            <a:avLst>
              <a:gd name="adj" fmla="val 2857"/>
            </a:avLst>
          </a:prstGeom>
          <a:solidFill>
            <a:srgbClr val="F5F8FE"/>
          </a:solidFill>
          <a:ln>
            <a:noFill/>
          </a:ln>
          <a:effectLst>
            <a:outerShdw blurRad="57150" dir="5400000" dist="381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524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57300" y="2888456"/>
            <a:ext cx="22098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861d2ac6-63ba-4741-bda2-6de1b81ba1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888456"/>
            <a:ext cx="2209800" cy="15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8993" y="4564856"/>
            <a:ext cx="1325463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1">
                <a:solidFill>
                  <a:srgbClr val="234CD9"/>
                </a:solidFill>
                <a:latin typeface="Montserrat"/>
              </a:defRPr>
            </a:pPr>
            <a:r>
              <a:rPr i="0" sz="1350" b="1">
                <a:solidFill>
                  <a:srgbClr val="234CD9"/>
                </a:solidFill>
                <a:latin typeface="Montserrat"/>
              </a:rPr>
              <a:t>Анна Петрова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4869656"/>
            <a:ext cx="2228850" cy="381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Аналитик данных по расписанию рейсов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2500" y="2659856"/>
            <a:ext cx="2667000" cy="3619500"/>
          </a:xfrm>
          <a:prstGeom prst="roundRect">
            <a:avLst>
              <a:gd name="adj" fmla="val 2857"/>
            </a:avLst>
          </a:prstGeom>
          <a:solidFill>
            <a:srgbClr val="F5F8FE"/>
          </a:solidFill>
          <a:ln>
            <a:noFill/>
          </a:ln>
          <a:effectLst>
            <a:outerShdw blurRad="57150" dir="5400000" dist="381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5240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91100" y="2888456"/>
            <a:ext cx="22098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7c1f8156-362f-4316-a07e-23498a76a9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2888456"/>
            <a:ext cx="2209800" cy="152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44430" y="4564856"/>
            <a:ext cx="132218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1">
                <a:solidFill>
                  <a:srgbClr val="234CD9"/>
                </a:solidFill>
                <a:latin typeface="Montserrat"/>
              </a:defRPr>
            </a:pPr>
            <a:r>
              <a:rPr i="0" sz="1350" b="1">
                <a:solidFill>
                  <a:srgbClr val="234CD9"/>
                </a:solidFill>
                <a:latin typeface="Montserrat"/>
              </a:rPr>
              <a:t>Иван Соколов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1100" y="4869656"/>
            <a:ext cx="2228850" cy="381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Архитектор системы фильтрации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96300" y="2659856"/>
            <a:ext cx="2667000" cy="3619500"/>
          </a:xfrm>
          <a:prstGeom prst="roundRect">
            <a:avLst>
              <a:gd name="adj" fmla="val 2857"/>
            </a:avLst>
          </a:prstGeom>
          <a:solidFill>
            <a:srgbClr val="F5F8FE"/>
          </a:solidFill>
          <a:ln>
            <a:noFill/>
          </a:ln>
          <a:effectLst>
            <a:outerShdw blurRad="57150" dir="5400000" dist="381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524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24900" y="2888456"/>
            <a:ext cx="22098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d118b405-b6bf-4e16-9b07-0e08485648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900" y="2888456"/>
            <a:ext cx="2209800" cy="15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00839" y="4564856"/>
            <a:ext cx="1476970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1">
                <a:solidFill>
                  <a:srgbClr val="234CD9"/>
                </a:solidFill>
                <a:latin typeface="Montserrat"/>
              </a:defRPr>
            </a:pPr>
            <a:r>
              <a:rPr i="0" sz="1350" b="1">
                <a:solidFill>
                  <a:srgbClr val="234CD9"/>
                </a:solidFill>
                <a:latin typeface="Montserrat"/>
              </a:rPr>
              <a:t>Мария Иванова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4900" y="4869656"/>
            <a:ext cx="2228850" cy="381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Менеджер базы данных расписания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efa4ec-ab00-4dd5-b139-d72cab2e01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48768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600" y="1906190"/>
            <a:ext cx="4895850" cy="1143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i="0" sz="3600" b="1">
                <a:solidFill>
                  <a:srgbClr val="1E4CD9"/>
                </a:solidFill>
                <a:latin typeface="Montserrat"/>
              </a:defRPr>
            </a:pPr>
            <a:r>
              <a:rPr i="0" sz="3600" b="1">
                <a:solidFill>
                  <a:srgbClr val="1E4CD9"/>
                </a:solidFill>
                <a:latin typeface="Montserrat"/>
              </a:rPr>
              <a:t>Проверка аэропортов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0" y="3506390"/>
            <a:ext cx="4895850" cy="83581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334155"/>
                </a:solidFill>
                <a:latin typeface="Montserrat"/>
              </a:defRPr>
            </a:pPr>
            <a:r>
              <a:rPr i="0" sz="1350" b="0">
                <a:solidFill>
                  <a:srgbClr val="334155"/>
                </a:solidFill>
                <a:latin typeface="Montserrat"/>
              </a:rPr>
              <a:t>Агент проверяет инфраструктуру Новосибирска. </a:t>
            </a:r>
            <a:r>
              <a:rPr i="0" sz="1350" b="1">
                <a:solidFill>
                  <a:srgbClr val="334155"/>
                </a:solidFill>
                <a:latin typeface="Montserrat"/>
              </a:rPr>
              <a:t>Подтверждается наличие одного международного аэропорта Толмачёво (OVB)</a:t>
            </a:r>
            <a:r>
              <a:rPr i="0" sz="1350" b="0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62000"/>
            <a:ext cx="10991850" cy="571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i="0" sz="3600" b="1">
                <a:solidFill>
                  <a:srgbClr val="234CD9"/>
                </a:solidFill>
                <a:latin typeface="Montserrat"/>
              </a:defRPr>
            </a:pPr>
            <a:r>
              <a:rPr i="0" sz="3600" b="1">
                <a:solidFill>
                  <a:srgbClr val="234CD9"/>
                </a:solidFill>
                <a:latin typeface="Montserrat"/>
              </a:rPr>
              <a:t>Контекст времени и поиск</a:t>
            </a:r>
          </a:p>
        </p:txBody>
      </p:sp>
      <p:pic>
        <p:nvPicPr>
          <p:cNvPr id="3" name="Picture 2" descr="92910b92-3bad-42d0-bb92-82c8339dea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133600"/>
            <a:ext cx="2286000" cy="2114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2700" y="2541984"/>
            <a:ext cx="1924050" cy="5334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i="0" sz="1500" b="0">
                <a:solidFill>
                  <a:srgbClr val="234CD9"/>
                </a:solidFill>
                <a:latin typeface="Montserrat"/>
              </a:defRPr>
            </a:pPr>
            <a:r>
              <a:rPr i="0" sz="1500" b="0">
                <a:solidFill>
                  <a:srgbClr val="234CD9"/>
                </a:solidFill>
                <a:latin typeface="Montserrat"/>
              </a:rPr>
              <a:t>Синхронизация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2700" y="3189684"/>
            <a:ext cx="1924050" cy="65008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Точное определение времени для часового пояса Новосибирск.</a:t>
            </a:r>
          </a:p>
        </p:txBody>
      </p:sp>
      <p:pic>
        <p:nvPicPr>
          <p:cNvPr id="6" name="Picture 5" descr="1003b439-463d-4311-9d13-b851a8f829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4248150"/>
            <a:ext cx="2286000" cy="1695450"/>
          </a:xfrm>
          <a:prstGeom prst="rect">
            <a:avLst/>
          </a:prstGeom>
        </p:spPr>
      </p:pic>
      <p:pic>
        <p:nvPicPr>
          <p:cNvPr id="7" name="Picture 6" descr="df3b138b-fc8c-4eec-8269-68d61ab8ce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2133600"/>
            <a:ext cx="2286000" cy="1695450"/>
          </a:xfrm>
          <a:prstGeom prst="rect">
            <a:avLst/>
          </a:prstGeom>
        </p:spPr>
      </p:pic>
      <p:pic>
        <p:nvPicPr>
          <p:cNvPr id="8" name="Picture 7" descr="47083cb6-2e7c-4ad8-99d5-2c1a052e0a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3829050"/>
            <a:ext cx="2286000" cy="2114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43500" y="4345781"/>
            <a:ext cx="1924050" cy="5334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i="0" sz="1500" b="0">
                <a:solidFill>
                  <a:srgbClr val="234CD9"/>
                </a:solidFill>
                <a:latin typeface="Montserrat"/>
              </a:defRPr>
            </a:pPr>
            <a:r>
              <a:rPr i="0" sz="1500" b="0">
                <a:solidFill>
                  <a:srgbClr val="234CD9"/>
                </a:solidFill>
                <a:latin typeface="Montserrat"/>
              </a:rPr>
              <a:t>Фильтрация рейсов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0" y="4993481"/>
            <a:ext cx="1924050" cy="43338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Удаление вылетевших вариантов, например 13:35.</a:t>
            </a:r>
          </a:p>
        </p:txBody>
      </p:sp>
      <p:pic>
        <p:nvPicPr>
          <p:cNvPr id="11" name="Picture 10" descr="92910b92-3bad-42d0-bb92-82c8339dea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33600"/>
            <a:ext cx="2286000" cy="2114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34300" y="2650331"/>
            <a:ext cx="1924050" cy="5334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defRPr i="0" sz="1500" b="0">
                <a:solidFill>
                  <a:srgbClr val="234CD9"/>
                </a:solidFill>
                <a:latin typeface="Montserrat"/>
              </a:defRPr>
            </a:pPr>
            <a:r>
              <a:rPr i="0" sz="1500" b="0">
                <a:solidFill>
                  <a:srgbClr val="234CD9"/>
                </a:solidFill>
                <a:latin typeface="Montserrat"/>
              </a:rPr>
              <a:t>Актуальные предложения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4300" y="3298031"/>
            <a:ext cx="1924050" cy="43338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defRPr i="0" sz="1050" b="0">
                <a:solidFill>
                  <a:srgbClr val="234CD9"/>
                </a:solidFill>
                <a:latin typeface="Montserrat"/>
              </a:defRPr>
            </a:pPr>
            <a:r>
              <a:rPr i="0" sz="1050" b="0">
                <a:solidFill>
                  <a:srgbClr val="234CD9"/>
                </a:solidFill>
                <a:latin typeface="Montserrat"/>
              </a:rPr>
              <a:t>Рейсы S7 5307 и S7 5319 доступны для пассажиров.</a:t>
            </a:r>
          </a:p>
        </p:txBody>
      </p:sp>
      <p:pic>
        <p:nvPicPr>
          <p:cNvPr id="14" name="Picture 13" descr="c75bb8c1-737e-449c-b6e8-a6c395d383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4248150"/>
            <a:ext cx="2286000" cy="16954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0" y="6819900"/>
            <a:ext cx="12192000" cy="38100"/>
          </a:xfrm>
          <a:prstGeom prst="roundRect">
            <a:avLst>
              <a:gd name="adj" fmla="val 5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